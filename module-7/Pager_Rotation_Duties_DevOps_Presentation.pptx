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68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1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14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1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6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4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159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1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207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30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63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re.google/workbook/on-call/" TargetMode="External"/><Relationship Id="rId2" Type="http://schemas.openxmlformats.org/officeDocument/2006/relationships/hyperlink" Target="https://sre.google/sre-book/being-on-cal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Pager Rotation Duties in DevOps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Best Practices for Effective On-Call Operations</a:t>
            </a:r>
            <a:endParaRPr lang="en-US" dirty="0"/>
          </a:p>
          <a:p>
            <a:r>
              <a:rPr lang="en-US" dirty="0"/>
              <a:t>Nazir Knuckles</a:t>
            </a:r>
            <a:endParaRPr dirty="0"/>
          </a:p>
          <a:p>
            <a:r>
              <a:rPr lang="en-US" dirty="0"/>
              <a:t>CSD380</a:t>
            </a:r>
          </a:p>
          <a:p>
            <a:r>
              <a:rPr lang="en-US" dirty="0"/>
              <a:t>7/26/2026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Pager Rotation Duties?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Engineers take turns being on-call for production incidents.</a:t>
            </a:r>
            <a:endParaRPr lang="en-US" dirty="0"/>
          </a:p>
          <a:p>
            <a:pPr>
              <a:defRPr sz="2200"/>
            </a:pPr>
            <a:r>
              <a:rPr dirty="0"/>
              <a:t>Ensures 24/7 support.</a:t>
            </a:r>
            <a:endParaRPr lang="en-US" dirty="0"/>
          </a:p>
          <a:p>
            <a:pPr>
              <a:defRPr sz="2200"/>
            </a:pPr>
            <a:r>
              <a:rPr dirty="0"/>
              <a:t>Minimizes downtime.</a:t>
            </a:r>
            <a:endParaRPr lang="en-US" dirty="0"/>
          </a:p>
          <a:p>
            <a:pPr>
              <a:defRPr sz="2200"/>
            </a:pPr>
            <a:r>
              <a:rPr dirty="0"/>
              <a:t>Shares responsibility fairly.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Pager Rotation in the DevOps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Shared ownership between development and operations.</a:t>
            </a:r>
            <a:endParaRPr lang="en-US" dirty="0"/>
          </a:p>
          <a:p>
            <a:pPr>
              <a:defRPr sz="2200"/>
            </a:pPr>
            <a:r>
              <a:rPr dirty="0"/>
              <a:t>Respond to alerts.</a:t>
            </a:r>
            <a:endParaRPr lang="en-US" dirty="0"/>
          </a:p>
          <a:p>
            <a:pPr>
              <a:defRPr sz="2200"/>
            </a:pPr>
            <a:r>
              <a:rPr dirty="0"/>
              <a:t>Investigate incidents.</a:t>
            </a:r>
            <a:endParaRPr lang="en-US" dirty="0"/>
          </a:p>
          <a:p>
            <a:pPr>
              <a:defRPr sz="2200"/>
            </a:pPr>
            <a:r>
              <a:rPr dirty="0"/>
              <a:t>Restore service.</a:t>
            </a:r>
            <a:endParaRPr lang="en-US" dirty="0"/>
          </a:p>
          <a:p>
            <a:pPr>
              <a:defRPr sz="2200"/>
            </a:pPr>
            <a:r>
              <a:rPr dirty="0"/>
              <a:t>Document incidents.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Fair rotations</a:t>
            </a:r>
            <a:endParaRPr lang="en-US" dirty="0"/>
          </a:p>
          <a:p>
            <a:pPr>
              <a:defRPr sz="2200"/>
            </a:pPr>
            <a:r>
              <a:rPr dirty="0"/>
              <a:t>Runbooks and documentation</a:t>
            </a:r>
            <a:endParaRPr lang="en-US" dirty="0"/>
          </a:p>
          <a:p>
            <a:pPr>
              <a:defRPr sz="2200"/>
            </a:pPr>
            <a:r>
              <a:rPr dirty="0"/>
              <a:t>Automate repetitive tasks</a:t>
            </a:r>
            <a:endParaRPr lang="en-US" dirty="0"/>
          </a:p>
          <a:p>
            <a:pPr>
              <a:defRPr sz="2200"/>
            </a:pPr>
            <a:r>
              <a:rPr dirty="0"/>
              <a:t>Primary/backup responders</a:t>
            </a:r>
            <a:endParaRPr lang="en-US" dirty="0"/>
          </a:p>
          <a:p>
            <a:pPr>
              <a:defRPr sz="2200"/>
            </a:pPr>
            <a:r>
              <a:rPr dirty="0"/>
              <a:t>Post-incident reviews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Reducing Pager Fatigue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Reduce unnecessary alerts</a:t>
            </a:r>
            <a:endParaRPr lang="en-US" dirty="0"/>
          </a:p>
          <a:p>
            <a:pPr>
              <a:defRPr sz="2200"/>
            </a:pPr>
            <a:r>
              <a:rPr dirty="0"/>
              <a:t>Improve alert quality</a:t>
            </a:r>
            <a:endParaRPr lang="en-US" dirty="0"/>
          </a:p>
          <a:p>
            <a:pPr>
              <a:defRPr sz="2200"/>
            </a:pPr>
            <a:r>
              <a:rPr dirty="0"/>
              <a:t>Automate fixes</a:t>
            </a:r>
            <a:endParaRPr lang="en-US" dirty="0"/>
          </a:p>
          <a:p>
            <a:pPr>
              <a:defRPr sz="2200"/>
            </a:pPr>
            <a:r>
              <a:rPr dirty="0"/>
              <a:t>Review thresholds</a:t>
            </a:r>
            <a:endParaRPr lang="en-US" dirty="0"/>
          </a:p>
          <a:p>
            <a:pPr>
              <a:defRPr sz="2200"/>
            </a:pPr>
            <a:r>
              <a:rPr dirty="0"/>
              <a:t>Prevent burnout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an Effective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Equal workload</a:t>
            </a:r>
            <a:endParaRPr lang="en-US" dirty="0"/>
          </a:p>
          <a:p>
            <a:pPr>
              <a:defRPr sz="2200"/>
            </a:pPr>
            <a:r>
              <a:rPr dirty="0"/>
              <a:t>Clear escalation paths</a:t>
            </a:r>
            <a:endParaRPr lang="en-US" dirty="0"/>
          </a:p>
          <a:p>
            <a:pPr>
              <a:defRPr sz="2200"/>
            </a:pPr>
            <a:r>
              <a:rPr dirty="0"/>
              <a:t>Backup engineers</a:t>
            </a:r>
            <a:endParaRPr lang="en-US" dirty="0"/>
          </a:p>
          <a:p>
            <a:pPr>
              <a:defRPr sz="2200"/>
            </a:pPr>
            <a:r>
              <a:rPr dirty="0"/>
              <a:t>Flexible scheduling</a:t>
            </a:r>
            <a:endParaRPr lang="en-US" dirty="0"/>
          </a:p>
          <a:p>
            <a:pPr>
              <a:defRPr sz="2200"/>
            </a:pPr>
            <a:r>
              <a:rPr dirty="0"/>
              <a:t>Weekly/daily rotations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PagerDuty</a:t>
            </a:r>
            <a:endParaRPr lang="en-US" dirty="0"/>
          </a:p>
          <a:p>
            <a:pPr>
              <a:defRPr sz="2200"/>
            </a:pPr>
            <a:r>
              <a:rPr dirty="0" err="1"/>
              <a:t>Opsgenie</a:t>
            </a:r>
            <a:endParaRPr lang="en-US" dirty="0"/>
          </a:p>
          <a:p>
            <a:pPr>
              <a:defRPr sz="2200"/>
            </a:pPr>
            <a:r>
              <a:rPr dirty="0"/>
              <a:t>Splunk On-Call</a:t>
            </a:r>
            <a:endParaRPr lang="en-US" dirty="0"/>
          </a:p>
          <a:p>
            <a:pPr>
              <a:defRPr sz="2200"/>
            </a:pPr>
            <a:r>
              <a:rPr dirty="0"/>
              <a:t>Grafana Alerting</a:t>
            </a:r>
            <a:endParaRPr lang="en-US" dirty="0"/>
          </a:p>
          <a:p>
            <a:pPr>
              <a:defRPr sz="2200"/>
            </a:pPr>
            <a:r>
              <a:rPr dirty="0"/>
              <a:t>Prometheus </a:t>
            </a:r>
            <a:r>
              <a:rPr dirty="0" err="1"/>
              <a:t>Alertmanager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dirty="0"/>
              <a:t>Benefits:</a:t>
            </a:r>
            <a:endParaRPr lang="en-US" dirty="0"/>
          </a:p>
          <a:p>
            <a:pPr lvl="1">
              <a:defRPr sz="2200"/>
            </a:pPr>
            <a:r>
              <a:rPr dirty="0"/>
              <a:t>Faster response</a:t>
            </a:r>
            <a:endParaRPr lang="en-US" dirty="0"/>
          </a:p>
          <a:p>
            <a:pPr lvl="1">
              <a:defRPr sz="2200"/>
            </a:pPr>
            <a:r>
              <a:rPr dirty="0"/>
              <a:t>Better reliability</a:t>
            </a:r>
            <a:endParaRPr lang="en-US" dirty="0"/>
          </a:p>
          <a:p>
            <a:pPr lvl="1">
              <a:defRPr sz="2200"/>
            </a:pPr>
            <a:r>
              <a:rPr dirty="0"/>
              <a:t>Collaboration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Challenges:</a:t>
            </a:r>
            <a:endParaRPr lang="en-US" dirty="0"/>
          </a:p>
          <a:p>
            <a:pPr lvl="1">
              <a:defRPr sz="2200"/>
            </a:pPr>
            <a:r>
              <a:rPr dirty="0"/>
              <a:t>Burnout</a:t>
            </a:r>
            <a:endParaRPr lang="en-US" dirty="0"/>
          </a:p>
          <a:p>
            <a:pPr lvl="1">
              <a:defRPr sz="2200"/>
            </a:pPr>
            <a:r>
              <a:rPr dirty="0"/>
              <a:t>Sleep disruptio</a:t>
            </a:r>
            <a:r>
              <a:rPr lang="en-US" dirty="0"/>
              <a:t>n</a:t>
            </a:r>
          </a:p>
          <a:p>
            <a:pPr lvl="1">
              <a:defRPr sz="2200"/>
            </a:pPr>
            <a:r>
              <a:rPr lang="en-US" dirty="0"/>
              <a:t>Knowledge gaps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/>
              <a:t>Google. (n.d.). Site reliability engineering: Being on-call. </a:t>
            </a:r>
            <a:r>
              <a:rPr lang="en-US" dirty="0">
                <a:hlinkClick r:id="rId2"/>
              </a:rPr>
              <a:t>https://sre.google/sre-book/being-on-call/</a:t>
            </a:r>
            <a:endParaRPr lang="en-US" dirty="0"/>
          </a:p>
          <a:p>
            <a:pPr>
              <a:defRPr sz="2200"/>
            </a:pPr>
            <a:r>
              <a:rPr lang="en-US" dirty="0"/>
              <a:t>Google. (n.d.). The Site Reliability Workbook: On-call. </a:t>
            </a:r>
            <a:r>
              <a:rPr lang="en-US" dirty="0">
                <a:hlinkClick r:id="rId3"/>
              </a:rPr>
              <a:t>https://sre.google/workbook/on-call/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11</TotalTime>
  <Words>193</Words>
  <Application>Microsoft Office PowerPoint</Application>
  <PresentationFormat>On-screen Show (4:3)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Rockwell</vt:lpstr>
      <vt:lpstr>Rockwell Condensed</vt:lpstr>
      <vt:lpstr>Wingdings</vt:lpstr>
      <vt:lpstr>Wood Type</vt:lpstr>
      <vt:lpstr>Pager Rotation Duties in DevOps</vt:lpstr>
      <vt:lpstr>What Are Pager Rotation Duties?</vt:lpstr>
      <vt:lpstr>Pager Rotation in the DevOps Model</vt:lpstr>
      <vt:lpstr>Industry Best Practices</vt:lpstr>
      <vt:lpstr>Reducing Pager Fatigue</vt:lpstr>
      <vt:lpstr>Building an Effective Schedule</vt:lpstr>
      <vt:lpstr>Common Tools</vt:lpstr>
      <vt:lpstr>Benefits &amp; Challenges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Nazir Knuckles</cp:lastModifiedBy>
  <cp:revision>2</cp:revision>
  <dcterms:created xsi:type="dcterms:W3CDTF">2013-01-27T09:14:16Z</dcterms:created>
  <dcterms:modified xsi:type="dcterms:W3CDTF">2026-07-27T04:38:13Z</dcterms:modified>
  <cp:category/>
</cp:coreProperties>
</file>