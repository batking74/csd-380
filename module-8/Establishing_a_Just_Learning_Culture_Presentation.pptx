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2099733"/>
            <a:ext cx="8823360" cy="2677648"/>
          </a:xfrm>
        </p:spPr>
        <p:txBody>
          <a:bodyPr anchor="b"/>
          <a:lstStyle>
            <a:lvl1pPr>
              <a:defRPr sz="5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6210" y="1792264"/>
            <a:ext cx="990599" cy="304720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49143" y="3227872"/>
            <a:ext cx="3859795" cy="304722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49844" y="295730"/>
            <a:ext cx="837981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42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654" y="2603500"/>
            <a:ext cx="8823361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3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2677645"/>
            <a:ext cx="4349892" cy="2283824"/>
          </a:xfrm>
        </p:spPr>
        <p:txBody>
          <a:bodyPr anchor="ctr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3764" y="2677644"/>
            <a:ext cx="3756566" cy="2283824"/>
          </a:xfrm>
        </p:spPr>
        <p:txBody>
          <a:bodyPr anchor="ctr"/>
          <a:lstStyle>
            <a:lvl1pPr marL="0" indent="0" algn="l">
              <a:buNone/>
              <a:defRPr sz="1999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83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653" y="2603501"/>
            <a:ext cx="4823901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096" y="2603500"/>
            <a:ext cx="482390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0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2603500"/>
            <a:ext cx="482390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653" y="3179763"/>
            <a:ext cx="4823901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7096" y="2603500"/>
            <a:ext cx="482390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7096" y="3179763"/>
            <a:ext cx="4823902" cy="2840039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8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654" y="973668"/>
            <a:ext cx="8759131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5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3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295400"/>
            <a:ext cx="2792431" cy="16002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641" y="1447800"/>
            <a:ext cx="5188714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653" y="3129281"/>
            <a:ext cx="2792431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693334"/>
            <a:ext cx="3864127" cy="1735667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6165" y="1143000"/>
            <a:ext cx="322635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653" y="3657600"/>
            <a:ext cx="3858207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6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4969927"/>
            <a:ext cx="8823361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1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5536665"/>
            <a:ext cx="8823360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2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499" y="1063417"/>
            <a:ext cx="8829516" cy="1372986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543300"/>
            <a:ext cx="8823361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69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337" y="607336"/>
            <a:ext cx="8017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59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1884" y="2613787"/>
            <a:ext cx="6525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59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466" y="982134"/>
            <a:ext cx="8451704" cy="2696632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439" y="3678766"/>
            <a:ext cx="7729206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5029200"/>
            <a:ext cx="9242489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56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2370667"/>
            <a:ext cx="8823362" cy="1822514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5024967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2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973668"/>
            <a:ext cx="8823361" cy="706964"/>
          </a:xfrm>
        </p:spPr>
        <p:txBody>
          <a:bodyPr/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3" y="2603502"/>
            <a:ext cx="314106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653" y="3179765"/>
            <a:ext cx="3141061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1547" y="2603500"/>
            <a:ext cx="314618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1547" y="3179764"/>
            <a:ext cx="314618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081" y="2603501"/>
            <a:ext cx="3144911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275" y="3179763"/>
            <a:ext cx="3144717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2824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0377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92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973668"/>
            <a:ext cx="8823361" cy="706964"/>
          </a:xfrm>
        </p:spPr>
        <p:txBody>
          <a:bodyPr/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3" y="4532844"/>
            <a:ext cx="304964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206" y="2603500"/>
            <a:ext cx="26905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653" y="5109106"/>
            <a:ext cx="3049644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7675" y="4532845"/>
            <a:ext cx="3049644" cy="576263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7226" y="2603500"/>
            <a:ext cx="26905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982" y="5109105"/>
            <a:ext cx="3049644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0697" y="4532845"/>
            <a:ext cx="305030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0905" y="2603500"/>
            <a:ext cx="26905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0696" y="5109104"/>
            <a:ext cx="3050301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4684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5771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0965" y="6391839"/>
            <a:ext cx="3643333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07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973668"/>
            <a:ext cx="8823361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654" y="2603500"/>
            <a:ext cx="8823361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2654" y="6391839"/>
            <a:ext cx="990341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66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3000" y="1278467"/>
            <a:ext cx="1409598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654" y="1278467"/>
            <a:ext cx="625439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0330" y="6391839"/>
            <a:ext cx="991877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0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654" y="973668"/>
            <a:ext cx="8759131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2603500"/>
            <a:ext cx="8759131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330" y="6391839"/>
            <a:ext cx="990341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0964" y="6391839"/>
            <a:ext cx="385879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1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3599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>
            <a:extLst>
              <a:ext uri="{FF2B5EF4-FFF2-40B4-BE49-F238E27FC236}">
                <a16:creationId xmlns:a16="http://schemas.microsoft.com/office/drawing/2014/main" id="{D22D1B95-2B54-43E9-85D9-B489F6C5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8488739" y="4185117"/>
            <a:ext cx="3298548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7D0F3F6D-A49D-4406-8D61-1C4F8D79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55493" y="4241801"/>
            <a:ext cx="11274663" cy="2337161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D953A318-DA8D-4405-9536-D889E45C5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88825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5093" y="0"/>
            <a:ext cx="685622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2732" y="1143000"/>
            <a:ext cx="8823360" cy="3389217"/>
          </a:xfrm>
        </p:spPr>
        <p:txBody>
          <a:bodyPr anchor="ctr">
            <a:normAutofit/>
          </a:bodyPr>
          <a:lstStyle/>
          <a:p>
            <a:pPr algn="ctr"/>
            <a:r>
              <a:rPr lang="en-US" sz="6500">
                <a:solidFill>
                  <a:srgbClr val="FFFFFF"/>
                </a:solidFill>
              </a:rPr>
              <a:t>Establishing a Just, Learning 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2732" y="5240851"/>
            <a:ext cx="8823360" cy="82893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100">
                <a:solidFill>
                  <a:schemeClr val="tx2"/>
                </a:solidFill>
              </a:rPr>
              <a:t>Barriers and Challenges to Implementation</a:t>
            </a:r>
          </a:p>
          <a:p>
            <a:pPr algn="ctr">
              <a:lnSpc>
                <a:spcPct val="90000"/>
              </a:lnSpc>
            </a:pPr>
            <a:r>
              <a:rPr lang="en-US" sz="1100">
                <a:solidFill>
                  <a:schemeClr val="tx2"/>
                </a:solidFill>
              </a:rPr>
              <a:t>NazIR Knuckles</a:t>
            </a:r>
          </a:p>
          <a:p>
            <a:pPr algn="ctr">
              <a:lnSpc>
                <a:spcPct val="90000"/>
              </a:lnSpc>
            </a:pPr>
            <a:r>
              <a:rPr lang="en-US" sz="1100">
                <a:solidFill>
                  <a:schemeClr val="tx2"/>
                </a:solidFill>
              </a:rPr>
              <a:t>8/2/2026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Just Culture?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just culture balances accountability with learning rather than blame.</a:t>
            </a:r>
          </a:p>
          <a:p>
            <a:pPr>
              <a:defRPr sz="2400"/>
            </a:pPr>
            <a:r>
              <a:t>Employees are encouraged to report errors, near misses, and safety concerns.</a:t>
            </a:r>
          </a:p>
          <a:p>
            <a:pPr>
              <a:defRPr sz="2400"/>
            </a:pPr>
            <a:r>
              <a:t>The goal is continuous improvement and safer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Barrier #1: Fear of Punishment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Employees may hide mistakes if they fear discipline or termination.</a:t>
            </a:r>
          </a:p>
          <a:p>
            <a:pPr>
              <a:defRPr sz="2400"/>
            </a:pPr>
            <a:r>
              <a:t>Blame discourages honest reporting.</a:t>
            </a:r>
          </a:p>
          <a:p>
            <a:pPr>
              <a:defRPr sz="2400"/>
            </a:pPr>
            <a:r>
              <a:t>Organizations lose opportunities to learn from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Barrier #2: Leadership &amp; Organizational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Inconsistent leadership support weakens trust.</a:t>
            </a:r>
          </a:p>
          <a:p>
            <a:pPr>
              <a:defRPr sz="2400"/>
            </a:pPr>
            <a:r>
              <a:t>Unclear policies create confusion about accountability.</a:t>
            </a:r>
          </a:p>
          <a:p>
            <a:pPr>
              <a:defRPr sz="2400"/>
            </a:pPr>
            <a:r>
              <a:t>Poor communication reduces employee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Just Culture Improves Safety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19202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194560"/>
            <a:ext cx="19202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2194560"/>
            <a:ext cx="19202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System</a:t>
            </a:r>
          </a:p>
          <a:p>
            <a:r>
              <a:t>Improvements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39" y="2194560"/>
            <a:ext cx="19202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Safer</a:t>
            </a:r>
          </a:p>
          <a:p>
            <a:r>
              <a:t>Outcomes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560320"/>
            <a:ext cx="6400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20640" y="2560320"/>
            <a:ext cx="6400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2560320"/>
            <a:ext cx="6400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Limited resources for training and reporting systems.</a:t>
            </a:r>
          </a:p>
          <a:p>
            <a:pPr>
              <a:defRPr sz="2400"/>
            </a:pPr>
            <a:r>
              <a:t>Resistance to organizational change.</a:t>
            </a:r>
          </a:p>
          <a:p>
            <a:pPr>
              <a:defRPr sz="2400"/>
            </a:pPr>
            <a:r>
              <a:t>Difficulty distinguishing human error from reckless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Strategies for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non-punitive reporting systems.</a:t>
            </a:r>
          </a:p>
          <a:p>
            <a:pPr>
              <a:defRPr sz="2400"/>
            </a:pPr>
            <a:r>
              <a:t>Train leaders and employees on just culture principles.</a:t>
            </a:r>
          </a:p>
          <a:p>
            <a:pPr>
              <a:defRPr sz="2400"/>
            </a:pPr>
            <a:r>
              <a:t>Provide consistent feedback and share lessons learned.</a:t>
            </a:r>
          </a:p>
          <a:p>
            <a:pPr>
              <a:defRPr sz="2400"/>
            </a:pPr>
            <a:r>
              <a:t>Measure safety outcomes and improve processes continuously.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just culture increases transparency and learning.</a:t>
            </a:r>
          </a:p>
          <a:p>
            <a:pPr>
              <a:defRPr sz="2400"/>
            </a:pPr>
            <a:r>
              <a:t>Leadership commitment and employee trust are essential.</a:t>
            </a:r>
          </a:p>
          <a:p>
            <a:pPr>
              <a:defRPr sz="2400"/>
            </a:pPr>
            <a:r>
              <a:t>Organizations that learn from mistakes improve safety and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Agency for Healthcare Research and Quality. (2024). Patient Safety Network. https://psnet.ahrq.gov</a:t>
            </a:r>
          </a:p>
          <a:p>
            <a:pPr>
              <a:defRPr sz="2400"/>
            </a:pPr>
            <a:r>
              <a:rPr dirty="0"/>
              <a:t>Institute for Healthcare Improvement. (2023). Just Culture resources. https://www.ihi.org</a:t>
            </a:r>
          </a:p>
          <a:p>
            <a:pPr>
              <a:defRPr sz="2400"/>
            </a:pPr>
            <a:r>
              <a:rPr dirty="0"/>
              <a:t>Reason, J. (1997). Managing the Risks of Organizational Accidents. Ashgate.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267</Words>
  <Application>Microsoft Office PowerPoint</Application>
  <PresentationFormat>Custom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Establishing a Just, Learning Culture</vt:lpstr>
      <vt:lpstr>What Is a Just Culture?</vt:lpstr>
      <vt:lpstr>Major Barrier #1: Fear of Punishment</vt:lpstr>
      <vt:lpstr>Major Barrier #2: Leadership &amp; Organizational Issues</vt:lpstr>
      <vt:lpstr>How a Just Culture Improves Safety</vt:lpstr>
      <vt:lpstr>Additional Challenges</vt:lpstr>
      <vt:lpstr>Strategies for Success</vt:lpstr>
      <vt:lpstr>Key Takeaways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Nazir Knuckles</cp:lastModifiedBy>
  <cp:revision>2</cp:revision>
  <dcterms:created xsi:type="dcterms:W3CDTF">2013-01-27T09:14:16Z</dcterms:created>
  <dcterms:modified xsi:type="dcterms:W3CDTF">2026-08-02T18:44:03Z</dcterms:modified>
  <cp:category/>
</cp:coreProperties>
</file>